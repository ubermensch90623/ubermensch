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Noto Sans CJK KR"/>
              </a:rPr>
              <a:t>HUG 전세보증금반환보증</a:t>
            </a:r>
          </a:p>
          <a:p>
            <a:r>
              <a:rPr sz="4400" b="1">
                <a:solidFill>
                  <a:srgbClr val="FFFFFF"/>
                </a:solidFill>
                <a:latin typeface="Noto Sans CJK KR"/>
              </a:rPr>
              <a:t>이행청구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AF2FB"/>
                </a:solidFill>
                <a:latin typeface="Noto Sans CJK KR"/>
              </a:rPr>
              <a:t>전세자금대출 세입자 — 집주인 경매 상황 대응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AF2FB"/>
                </a:solidFill>
                <a:latin typeface="Noto Sans CJK KR"/>
              </a:rPr>
              <a:t>주택도시보증공사(HUG) 공식 안내 기반 / 실무 참고용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AF2FB"/>
                </a:solidFill>
                <a:latin typeface="Noto Sans CJK KR"/>
              </a:rPr>
              <a:t>작성일: 2026-04-13  |  본 자료는 법률 자문이 아닙니다.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사용자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2/10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22860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전세자금대출로
전세계약 체결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228600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집주인 주택이
경매로 넘어감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00400" cy="2286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전세보증금
반환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A4A4A"/>
                </a:solidFill>
                <a:latin typeface="Noto Sans CJK KR"/>
              </a:rPr>
              <a:t>→ HUG 전세보증금반환보증 이행청구 필요 (경매 2호 사고)</a:t>
            </a:r>
          </a:p>
          <a:p>
            <a:r>
              <a:rPr sz="1800" b="0">
                <a:solidFill>
                  <a:srgbClr val="4A4A4A"/>
                </a:solidFill>
                <a:latin typeface="Noto Sans CJK KR"/>
              </a:rPr>
              <a:t>→ 전세자금대출이 있어, 대위변제금은 대출은행 우선 상환 후 잔액만 세입자 수령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보증사고 유형 — 본 케이스는 2호 사고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9144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1호 사고  —  계약 종료 후 미반환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4A4A"/>
                </a:solidFill>
                <a:latin typeface="Noto Sans CJK KR"/>
              </a:rPr>
              <a:t>전세계약 해지·종료 후 1개월 내 정당한 사유 없이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보증금을 돌려받지 못한 경우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212080" cy="4389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212080" cy="91440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2호 사고  —  경매·공매 후 미수령 (본 케이스)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4A4A"/>
                </a:solidFill>
                <a:latin typeface="Noto Sans CJK KR"/>
              </a:rPr>
              <a:t>전세 기간 중 경매/공매가 실시되어,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배당 후에도 보증금을 회수하지 못한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754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86A33"/>
                </a:solidFill>
                <a:latin typeface="Noto Sans CJK KR"/>
              </a:rPr>
              <a:t>★ 본 사용자 시나리오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반환보증 vs 대출상환보증 — 가입 상품 확인 필수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4/10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657600"/>
                <a:gridCol w="4480560"/>
              </a:tblGrid>
              <a:tr h="10287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>
                    <a:solidFill>
                      <a:srgbClr val="0F2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KR"/>
                        </a:rPr>
                        <a:t>반환보증</a:t>
                      </a:r>
                    </a:p>
                  </a:txBody>
                  <a:tcPr>
                    <a:solidFill>
                      <a:srgbClr val="0F2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KR"/>
                        </a:rPr>
                        <a:t>대출상환보증 (전세금안심대출보증 등)</a:t>
                      </a:r>
                    </a:p>
                  </a:txBody>
                  <a:tcPr>
                    <a:solidFill>
                      <a:srgbClr val="0F2E5C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보호 대상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세입자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대출 은행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작동 방식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집주인 대신 HUG가
세입자에게 보증금 지급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세입자 상환 불능 시
HUG가 은행에 대신 상환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본 시나리오와 관계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★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4A4A4A"/>
                          </a:solidFill>
                          <a:latin typeface="Noto Sans CJK KR"/>
                        </a:rPr>
                        <a:t>결합 상품 가입 시 병행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전체 단계별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5/10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148840" cy="14630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1.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경매개시
통지 수령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554480"/>
            <a:ext cx="2148840" cy="14630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2.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HUG·은행
사고 통지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2148840" cy="14630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3.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배당요구
제출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2148840" cy="14630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4.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(필요 시)
임차권등기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554480"/>
            <a:ext cx="2148840" cy="14630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5.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배당 참여
배당표 수령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3840480"/>
            <a:ext cx="2148840" cy="146304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6.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HUG
이행청구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840480"/>
            <a:ext cx="2148840" cy="146304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7.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HUG
이행심사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840480"/>
            <a:ext cx="2148840" cy="146304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8.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대위변제
(은행 우선)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840480"/>
            <a:ext cx="2148840" cy="1463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9.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명도
이행금 수령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2148840" cy="1463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10. </a:t>
            </a:r>
            <a:r>
              <a:rPr sz="1500" b="1">
                <a:solidFill>
                  <a:srgbClr val="FFFFFF"/>
                </a:solidFill>
                <a:latin typeface="Noto Sans CJK KR"/>
              </a:rPr>
              <a:t>HUG 구상·정산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6A33"/>
                </a:solidFill>
                <a:latin typeface="Noto Sans CJK KR"/>
              </a:rPr>
              <a:t>핵심 기한: 배당요구 종기 / 이행청구는 계약 종료 후 3개월 이내 / 심사·대위변제 각 약 1개월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HUG 제출 서류 (경매 2호 사고)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보증채무이행청구서 (HUG 양식)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신분증 사본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주민등록등본 또는 초본 (말소자 포함)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확정일자부 전세계약서 원본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인감증명서 + 인감도장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임차권등기명령 결정문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임차권등기 등재된 등기부등본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전세계약 해지·종료 증빙 (내용증명 등)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배당표 사본 등 미수령액 증빙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채권양도계약서 + 양도통지 증빙</a:t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700" b="0">
                <a:solidFill>
                  <a:srgbClr val="4A4A4A"/>
                </a:solidFill>
                <a:latin typeface="Noto Sans CJK KR"/>
              </a:rPr>
              <a:t>□ (대출 있을 시) 대출 잔액증명서, 은행 상환계좌 정보, 대출약정서 사본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전세자금대출 연계 주의점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7/10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E5C"/>
                </a:solidFill>
                <a:latin typeface="Noto Sans CJK KR"/>
              </a:rPr>
              <a:t>① 대출은행 우선 상환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Noto Sans CJK KR"/>
              </a:rPr>
              <a:t>대위변제금은 HUG → 대출은행 직접 입금.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세입자는 대출 잔액을 제외한 차액만 수령.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212080" cy="210312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E5C"/>
                </a:solidFill>
                <a:latin typeface="Noto Sans CJK KR"/>
              </a:rPr>
              <a:t>② 은행·HUG 동시 통지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Noto Sans CJK KR"/>
              </a:rPr>
              <a:t>이자는 대위변제일까지 계속 발생.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경매 인지 즉시 양쪽 모두에 통지.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E5C"/>
                </a:solidFill>
                <a:latin typeface="Noto Sans CJK KR"/>
              </a:rPr>
              <a:t>③ 가입 상품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Noto Sans CJK KR"/>
              </a:rPr>
              <a:t>반환보증 단독인지, 전세금안심대출보증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(반환+상환 결합)인지 확인.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5212080" cy="210312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0233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2E5C"/>
                </a:solidFill>
                <a:latin typeface="Noto Sans CJK KR"/>
              </a:rPr>
              <a:t>④ 임의 변경 금지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634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Noto Sans CJK KR"/>
              </a:rPr>
              <a:t>경매 개시 이후 대출 중도상환·갱신 등은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반드시 은행·HUG와 협의 후 진행.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세입자 Do / Don't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8/10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94960" cy="4754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E7D32"/>
                </a:solidFill>
                <a:latin typeface="Noto Sans CJK KR"/>
              </a:rPr>
              <a:t>✅ 반드시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Noto Sans CJK KR"/>
              </a:rPr>
              <a:t>· 경매개시결정문 수령 즉시 HUG·은행 동시 통지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배당요구 기한 내 제출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전입·점유·확정일자 유지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이사 필요 시 임차권등기 먼저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계약서·내용증명·등기부등본 원본 보관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계약 종료 후 3개월 이내 HUG 이행청구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4754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62828"/>
                </a:solidFill>
                <a:latin typeface="Noto Sans CJK KR"/>
              </a:rPr>
              <a:t>❌ 절대 하지 말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Noto Sans CJK KR"/>
              </a:rPr>
              <a:t>· 임차권등기 없이 전출(이사)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경매 진행 중 점유 해제 / 주소지 변경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배당요구 종기 경과 후 신고 시도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임대인과 사적 합의로 권리 포기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중요 서류 원본 분실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청구 기한(3개월) 도과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핵심 기한 · 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64008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⏰ 배당요구 종기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630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A4A4A"/>
                </a:solidFill>
                <a:latin typeface="Noto Sans CJK KR"/>
              </a:rPr>
              <a:t>법원 공고일 기준. 놓치면 배당 불가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657600" cy="64008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⏰ 이행청구 기한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2402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A4A4A"/>
                </a:solidFill>
                <a:latin typeface="Noto Sans CJK KR"/>
              </a:rPr>
              <a:t>전세계약 종료 후 3개월 이내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657600" cy="6400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⏰ 이행심사·대위변제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A4A4A"/>
                </a:solidFill>
                <a:latin typeface="Noto Sans CJK KR"/>
              </a:rPr>
              <a:t>각 약 1개월 (합산 약 2개월)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657600" cy="640080"/>
          </a:xfrm>
          <a:prstGeom prst="round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📞 HUG 콜센터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947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A4A4A"/>
                </a:solidFill>
                <a:latin typeface="Noto Sans CJK KR"/>
              </a:rPr>
              <a:t>1566-9009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3657600" cy="640080"/>
          </a:xfrm>
          <a:prstGeom prst="round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🌐 모바일HUG 이행청구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5720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A4A4A"/>
                </a:solidFill>
                <a:latin typeface="Noto Sans CJK KR"/>
              </a:rPr>
              <a:t>onestop.khug.or.kr/webView/webBiz/excu/loahExcu001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3657600" cy="640080"/>
          </a:xfrm>
          <a:prstGeom prst="round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🌐 보증이행 안내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3492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A4A4A"/>
                </a:solidFill>
                <a:latin typeface="Noto Sans CJK KR"/>
              </a:rPr>
              <a:t>khug.or.kr/hug/web/ge/er/geer001200.jsp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E5C"/>
                </a:solidFill>
                <a:latin typeface="Noto Sans CJK KR"/>
              </a:rPr>
              <a:t>참고 링크 · 면책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Noto Sans CJK KR"/>
              </a:rPr>
              <a:t>HUG 전세보증금반환보증 이행청구 워크플로우   |  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Noto Sans CJK KR"/>
              </a:rPr>
              <a:t>· HUG 전세보증금반환보증 사고란 — khug.or.kr/hug/web/ge/er/geer001100.jsp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HUG 전세보증금반환보증 이행절차 — khug.or.kr/hug/web/ge/er/geer001200.jsp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모바일HUG 전세보증 이행청구 — onestop.khug.or.kr/webView/webBiz/excu/loahExcu001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HUG 이용절차 및 제출서류 — khug.or.kr/hug/web/ig/dr/igdr000002.jsp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HUG 전세금안심대출보증 — khug.or.kr/hug/web/ig/dl/igdl000001.jsp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찾기쉬운 생활법령정보 — 배당요구 / 임차권등기명령 / 강제경매</a:t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/>
            </a:r>
          </a:p>
          <a:p>
            <a:r>
              <a:rPr sz="1500" b="0">
                <a:solidFill>
                  <a:srgbClr val="4A4A4A"/>
                </a:solidFill>
                <a:latin typeface="Noto Sans CJK KR"/>
              </a:rPr>
              <a:t>· 한국주택금융공사(HF) 일반전세지킴보증 — hf.go.kr/ko/sub02/sub02_05_01.do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2191695" cy="164592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2E5C"/>
                </a:solidFill>
                <a:latin typeface="Noto Sans CJK KR"/>
              </a:rPr>
              <a:t>※ 본 자료는 공개 정보 기반 실무 참고용이며 법률 자문이 아닙니다.</a:t>
            </a:r>
          </a:p>
          <a:p>
            <a:r>
              <a:rPr sz="1400" b="0">
                <a:solidFill>
                  <a:srgbClr val="0F2E5C"/>
                </a:solidFill>
                <a:latin typeface="Noto Sans CJK KR"/>
              </a:rPr>
              <a:t>   실제 대응 시 HUG 공식 안내 및 변호사·대한법률구조공단 상담을 병행하십시오.</a:t>
            </a:r>
          </a:p>
          <a:p>
            <a:r>
              <a:rPr sz="1400" b="0">
                <a:solidFill>
                  <a:srgbClr val="0F2E5C"/>
                </a:solidFill>
                <a:latin typeface="Noto Sans CJK KR"/>
              </a:rPr>
              <a:t>   서류·기한·절차는 변경될 수 있으므로 접수 전 최신 안내를 재확인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